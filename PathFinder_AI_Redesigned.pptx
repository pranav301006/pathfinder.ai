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 AI  ·  PS-2 Solution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011680"/>
            <a:ext cx="6858000" cy="6858000"/>
          </a:xfrm>
          <a:prstGeom prst="ellipse">
            <a:avLst/>
          </a:prstGeom>
          <a:solidFill>
            <a:srgbClr val="6366F1">
              <a:alpha val="14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4206240"/>
            <a:ext cx="5943600" cy="594360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49808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914400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PS-2 SOLUTION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288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 </a:t>
            </a:r>
            <a:pPr indent="0" marL="0">
              <a:buNone/>
            </a:pPr>
            <a:r>
              <a:rPr lang="en-US" sz="7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0896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AI-Integrated Career Guidance &amp; Counseling Portal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062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black-box AI advice with a </a:t>
            </a:r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Hybrid Architecture</a:t>
            </a:r>
            <a:pPr indent="0" marL="0">
              <a:buNone/>
            </a:pPr>
            <a:r>
              <a:rPr lang="en-US" sz="16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deterministic scoring, skill reality-checks and human counselor oversight.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06640" y="1554480"/>
            <a:ext cx="4233672" cy="1143000"/>
          </a:xfrm>
          <a:prstGeom prst="roundRect">
            <a:avLst>
              <a:gd name="adj" fmla="val 9600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35240" y="1792224"/>
            <a:ext cx="658368" cy="658368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95681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503920" y="1801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Zero-PII LLM Gateway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2167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data leaves the platform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406640" y="2926080"/>
            <a:ext cx="4233672" cy="1143000"/>
          </a:xfrm>
          <a:prstGeom prst="roundRect">
            <a:avLst>
              <a:gd name="adj" fmla="val 9600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635240" y="3163824"/>
            <a:ext cx="658368" cy="658368"/>
          </a:xfrm>
          <a:prstGeom prst="ellipse">
            <a:avLst/>
          </a:prstGeom>
          <a:solidFill>
            <a:srgbClr val="6366F1">
              <a:alpha val="20000"/>
            </a:srgbClr>
          </a:solidFill>
          <a:ln w="9525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2" y="332841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03920" y="3172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Holland RIASEC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503920" y="3538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psychometric scoring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406640" y="4297680"/>
            <a:ext cx="4233672" cy="1143000"/>
          </a:xfrm>
          <a:prstGeom prst="roundRect">
            <a:avLst>
              <a:gd name="adj" fmla="val 9600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635240" y="4535424"/>
            <a:ext cx="658368" cy="658368"/>
          </a:xfrm>
          <a:prstGeom prst="ellipse">
            <a:avLst/>
          </a:prstGeom>
          <a:solidFill>
            <a:srgbClr val="34D399">
              <a:alpha val="20000"/>
            </a:srgbClr>
          </a:solidFill>
          <a:ln w="9525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470001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503920" y="4544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 Verified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8503920" y="49103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sign-off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WHY PATHFINDER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vs. The PathFinder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304288"/>
            <a:ext cx="310896" cy="310896"/>
          </a:xfrm>
          <a:prstGeom prst="ellipse">
            <a:avLst/>
          </a:prstGeom>
          <a:solidFill>
            <a:srgbClr val="F87171">
              <a:alpha val="18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382012"/>
            <a:ext cx="155448" cy="1554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43584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AI advice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37560" y="2304288"/>
            <a:ext cx="310896" cy="310896"/>
          </a:xfrm>
          <a:prstGeom prst="ellipse">
            <a:avLst/>
          </a:prstGeom>
          <a:solidFill>
            <a:srgbClr val="F87171">
              <a:alpha val="18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284" y="2382012"/>
            <a:ext cx="155448" cy="155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58184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skill testing</a:t>
            </a:r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self-ratings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2944368"/>
            <a:ext cx="310896" cy="310896"/>
          </a:xfrm>
          <a:prstGeom prst="ellipse">
            <a:avLst/>
          </a:prstGeom>
          <a:solidFill>
            <a:srgbClr val="F87171">
              <a:alpha val="18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3022092"/>
            <a:ext cx="155448" cy="1554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43584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India-aware:</a:t>
            </a:r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ignores JEE, NEET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337560" y="2944368"/>
            <a:ext cx="310896" cy="310896"/>
          </a:xfrm>
          <a:prstGeom prst="ellipse">
            <a:avLst/>
          </a:prstGeom>
          <a:solidFill>
            <a:srgbClr val="F87171">
              <a:alpha val="18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284" y="3022092"/>
            <a:ext cx="155448" cy="1554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758184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oversight</a:t>
            </a:r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humans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548640" y="384048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2296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822960" y="4681728"/>
            <a:ext cx="310896" cy="310896"/>
          </a:xfrm>
          <a:prstGeom prst="ellipse">
            <a:avLst/>
          </a:prstGeom>
          <a:solidFill>
            <a:srgbClr val="34D399">
              <a:alpha val="18000"/>
            </a:srgbClr>
          </a:solidFill>
          <a:ln w="9525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" y="4759452"/>
            <a:ext cx="155448" cy="15544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43584" y="4663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psychometrics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3337560" y="4681728"/>
            <a:ext cx="310896" cy="310896"/>
          </a:xfrm>
          <a:prstGeom prst="ellipse">
            <a:avLst/>
          </a:prstGeom>
          <a:solidFill>
            <a:srgbClr val="34D399">
              <a:alpha val="18000"/>
            </a:srgbClr>
          </a:solidFill>
          <a:ln w="9525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5284" y="4759452"/>
            <a:ext cx="155448" cy="15544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758184" y="4663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skill micro-quizzes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822960" y="5321808"/>
            <a:ext cx="310896" cy="310896"/>
          </a:xfrm>
          <a:prstGeom prst="ellipse">
            <a:avLst/>
          </a:prstGeom>
          <a:solidFill>
            <a:srgbClr val="34D399">
              <a:alpha val="18000"/>
            </a:srgbClr>
          </a:solidFill>
          <a:ln w="9525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" y="5399532"/>
            <a:ext cx="155448" cy="15544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243584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</a:t>
            </a:r>
            <a:endParaRPr lang="en-US" sz="1400" dirty="0"/>
          </a:p>
        </p:txBody>
      </p:sp>
      <p:sp>
        <p:nvSpPr>
          <p:cNvPr id="29" name="Shape 20"/>
          <p:cNvSpPr/>
          <p:nvPr/>
        </p:nvSpPr>
        <p:spPr>
          <a:xfrm>
            <a:off x="3337560" y="5321808"/>
            <a:ext cx="310896" cy="310896"/>
          </a:xfrm>
          <a:prstGeom prst="ellipse">
            <a:avLst/>
          </a:prstGeom>
          <a:solidFill>
            <a:srgbClr val="34D399">
              <a:alpha val="18000"/>
            </a:srgbClr>
          </a:solidFill>
          <a:ln w="9525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5284" y="5399532"/>
            <a:ext cx="155448" cy="15544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3758184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India-first</a:t>
            </a:r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pathways, bilingual</a:t>
            </a:r>
            <a:endParaRPr lang="en-US" sz="1400" dirty="0"/>
          </a:p>
        </p:txBody>
      </p:sp>
      <p:sp>
        <p:nvSpPr>
          <p:cNvPr id="32" name="Shape 22"/>
          <p:cNvSpPr/>
          <p:nvPr/>
        </p:nvSpPr>
        <p:spPr>
          <a:xfrm>
            <a:off x="6126480" y="1463040"/>
            <a:ext cx="5513832" cy="2642205"/>
          </a:xfrm>
          <a:prstGeom prst="roundRect">
            <a:avLst>
              <a:gd name="adj" fmla="val 4153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pic>
        <p:nvPicPr>
          <p:cNvPr id="33" name="Image 8" descr="/home/claude/media/ppt/media/image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9632" y="1536192"/>
            <a:ext cx="5367528" cy="2495901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6126480" y="4333845"/>
            <a:ext cx="5513832" cy="1701195"/>
          </a:xfrm>
          <a:prstGeom prst="roundRect">
            <a:avLst>
              <a:gd name="adj" fmla="val 6450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6355080" y="4562445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4699605"/>
            <a:ext cx="274320" cy="27432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086600" y="4544157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800" dirty="0"/>
          </a:p>
        </p:txBody>
      </p:sp>
      <p:sp>
        <p:nvSpPr>
          <p:cNvPr id="38" name="Text 26"/>
          <p:cNvSpPr txBox="1"/>
          <p:nvPr/>
        </p:nvSpPr>
        <p:spPr>
          <a:xfrm>
            <a:off x="7086600" y="4909917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/ Hindi toggle and 1-click evaluator demo logins.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Hybrid AI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6366F1">
              <a:alpha val="20000"/>
            </a:srgbClr>
          </a:solidFill>
          <a:ln w="9525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16916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A3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Assessment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Holland RIASEC + verified skill reality check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76879" y="146304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05479" y="1691640"/>
            <a:ext cx="594360" cy="59436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069" y="184023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05679" y="16916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A3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3605479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Matching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05479" y="28803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across Math, Tech, Healthcare, Law and Finance datasets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05118" y="146304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33718" y="1691640"/>
            <a:ext cx="594360" cy="594360"/>
          </a:xfrm>
          <a:prstGeom prst="ellipse">
            <a:avLst/>
          </a:prstGeom>
          <a:solidFill>
            <a:srgbClr val="FBBF24">
              <a:alpha val="20000"/>
            </a:srgbClr>
          </a:solidFill>
          <a:ln w="9525">
            <a:solidFill>
              <a:srgbClr val="FBBF24">
                <a:alpha val="5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308" y="184023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033918" y="16916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A3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6433718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Enrichment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433718" y="28803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with zero-PII prompts, strict JSON validation and automatic fallback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033358" y="146304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61958" y="1691640"/>
            <a:ext cx="594360" cy="594360"/>
          </a:xfrm>
          <a:prstGeom prst="ellipse">
            <a:avLst/>
          </a:prstGeom>
          <a:solidFill>
            <a:srgbClr val="34D399">
              <a:alpha val="20000"/>
            </a:srgbClr>
          </a:solidFill>
          <a:ln w="9525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0548" y="1840230"/>
            <a:ext cx="297180" cy="2971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862158" y="16916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A3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9261958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261958" y="28803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 review queue + official Counselor Verified badge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548640" y="4206240"/>
            <a:ext cx="11091672" cy="2011680"/>
          </a:xfrm>
          <a:prstGeom prst="roundRect">
            <a:avLst>
              <a:gd name="adj" fmla="val 5455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22960" y="43159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1100" dirty="0"/>
          </a:p>
        </p:txBody>
      </p:sp>
      <p:pic>
        <p:nvPicPr>
          <p:cNvPr id="30" name="Image 4" descr="/home/claude/media/ppt/media/image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596" y="4553712"/>
            <a:ext cx="9509760" cy="15555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INNOVATION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 &amp; Unique Innovations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108960" cy="2148840"/>
          </a:xfrm>
          <a:prstGeom prst="roundRect">
            <a:avLst>
              <a:gd name="adj" fmla="val 5106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6366F1">
              <a:alpha val="20000"/>
            </a:srgbClr>
          </a:solidFill>
          <a:ln w="9525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Reality Check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3-question objective micro-quizzes validate self-rated skills (1–5) and flag inflation.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58768" y="1463040"/>
            <a:ext cx="3108960" cy="2148840"/>
          </a:xfrm>
          <a:prstGeom prst="roundRect">
            <a:avLst>
              <a:gd name="adj" fmla="val 5106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87368" y="1691640"/>
            <a:ext cx="548640" cy="548640"/>
          </a:xfrm>
          <a:prstGeom prst="ellipse">
            <a:avLst/>
          </a:prstGeom>
          <a:solidFill>
            <a:srgbClr val="FBBF24">
              <a:alpha val="20000"/>
            </a:srgbClr>
          </a:solidFill>
          <a:ln w="9525">
            <a:solidFill>
              <a:srgbClr val="FBBF24">
                <a:alpha val="5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87368" y="2377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India-Aware Ecosystem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087368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10/12 streams, JEE / NEET / CUET / CAT / UPSC and NPTEL / SWAYAM courses.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813048"/>
            <a:ext cx="3108960" cy="2148840"/>
          </a:xfrm>
          <a:prstGeom prst="roundRect">
            <a:avLst>
              <a:gd name="adj" fmla="val 5106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041648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7880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77240" y="4727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Kiosk Mode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509320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48px+ touch targets, 90-second idle auto-reset and QR code mobile hand-off.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858768" y="3813048"/>
            <a:ext cx="3108960" cy="2148840"/>
          </a:xfrm>
          <a:prstGeom prst="roundRect">
            <a:avLst>
              <a:gd name="adj" fmla="val 5106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087368" y="4041648"/>
            <a:ext cx="548640" cy="548640"/>
          </a:xfrm>
          <a:prstGeom prst="ellipse">
            <a:avLst/>
          </a:prstGeom>
          <a:solidFill>
            <a:srgbClr val="34D399">
              <a:alpha val="20000"/>
            </a:srgbClr>
          </a:solidFill>
          <a:ln w="9525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41788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087368" y="4727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Telemetry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4087368" y="509320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PII sent to external APIs. Admin dashboard tracks model latency and token costs.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269480" y="1463040"/>
            <a:ext cx="4370832" cy="2142393"/>
          </a:xfrm>
          <a:prstGeom prst="roundRect">
            <a:avLst>
              <a:gd name="adj" fmla="val 5122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pic>
        <p:nvPicPr>
          <p:cNvPr id="25" name="Image 4" descr="/home/claude/media/ppt/media/image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1536192"/>
            <a:ext cx="4224528" cy="1996089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269480" y="3806601"/>
            <a:ext cx="4370832" cy="2155287"/>
          </a:xfrm>
          <a:prstGeom prst="roundRect">
            <a:avLst>
              <a:gd name="adj" fmla="val 5091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498080" y="4035201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4172361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498080" y="4721001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Terminal in action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7498080" y="5086761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Touch-based 60-second assessment, an idle auto-wipe countdown and a QR code to continue on a phone.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TECHNOLOGY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Database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297680" cy="731520"/>
          </a:xfrm>
          <a:prstGeom prst="roundRect">
            <a:avLst>
              <a:gd name="adj" fmla="val 15000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91056"/>
            <a:ext cx="475488" cy="475488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72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810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Tailwind/CSS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313432"/>
            <a:ext cx="4297680" cy="731520"/>
          </a:xfrm>
          <a:prstGeom prst="roundRect">
            <a:avLst>
              <a:gd name="adj" fmla="val 15000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441448"/>
            <a:ext cx="475488" cy="475488"/>
          </a:xfrm>
          <a:prstGeom prst="ellipse">
            <a:avLst/>
          </a:prstGeom>
          <a:solidFill>
            <a:srgbClr val="6366F1">
              <a:alpha val="20000"/>
            </a:srgbClr>
          </a:solidFill>
          <a:ln w="9525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6032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423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26609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REST API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163824"/>
            <a:ext cx="4297680" cy="731520"/>
          </a:xfrm>
          <a:prstGeom prst="roundRect">
            <a:avLst>
              <a:gd name="adj" fmla="val 15000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291840"/>
            <a:ext cx="475488" cy="475488"/>
          </a:xfrm>
          <a:prstGeom prst="ellipse">
            <a:avLst/>
          </a:prstGeom>
          <a:solidFill>
            <a:srgbClr val="FBBF24">
              <a:alpha val="20000"/>
            </a:srgbClr>
          </a:solidFill>
          <a:ln w="9525">
            <a:solidFill>
              <a:srgbClr val="FBBF24">
                <a:alpha val="5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1071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2735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5112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 WAL mode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4014216"/>
            <a:ext cx="4297680" cy="731520"/>
          </a:xfrm>
          <a:prstGeom prst="roundRect">
            <a:avLst>
              <a:gd name="adj" fmla="val 15000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4142232"/>
            <a:ext cx="475488" cy="475488"/>
          </a:xfrm>
          <a:prstGeom prst="ellipse">
            <a:avLst/>
          </a:prstGeom>
          <a:solidFill>
            <a:srgbClr val="34D399">
              <a:alpha val="20000"/>
            </a:srgbClr>
          </a:solidFill>
          <a:ln w="9525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6110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1239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417320" y="43616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 · rate-limiting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548640" y="4892040"/>
            <a:ext cx="4297680" cy="1325880"/>
          </a:xfrm>
          <a:prstGeom prst="roundRect">
            <a:avLst>
              <a:gd name="adj" fmla="val 8276"/>
            </a:avLst>
          </a:prstGeom>
          <a:solidFill>
            <a:srgbClr val="1A2347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77240" y="498348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6600" dirty="0"/>
          </a:p>
        </p:txBody>
      </p:sp>
      <p:sp>
        <p:nvSpPr>
          <p:cNvPr id="26" name="Text 20"/>
          <p:cNvSpPr txBox="1"/>
          <p:nvPr/>
        </p:nvSpPr>
        <p:spPr>
          <a:xfrm>
            <a:off x="2194560" y="5138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2194560" y="5532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assessments, career vectors, roadmaps, AI logs.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120640" y="1463040"/>
            <a:ext cx="6519672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2A3563"/>
            </a:solidFill>
            <a:prstDash val="solid"/>
          </a:ln>
        </p:spPr>
      </p:sp>
      <p:pic>
        <p:nvPicPr>
          <p:cNvPr id="29" name="Image 4" descr="/home/claude/media/ppt/media/image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4167" y="1600200"/>
            <a:ext cx="5812618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STUDENT EXPERIENCE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 &amp;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6366F1">
              <a:alpha val="20000"/>
            </a:srgbClr>
          </a:solidFill>
          <a:ln w="9525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Holland Code badge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7627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per student, e.g. CEI.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429000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661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3649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breakdown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73075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score on every career card.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57200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rgbClr val="FBBF24">
              <a:alpha val="20000"/>
            </a:srgbClr>
          </a:solidFill>
          <a:ln w="9525">
            <a:solidFill>
              <a:srgbClr val="FBBF24">
                <a:alpha val="5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206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9194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pathways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528523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JEE, NEET and CUET routes.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754880" y="1463040"/>
            <a:ext cx="6885432" cy="3279999"/>
          </a:xfrm>
          <a:prstGeom prst="roundRect">
            <a:avLst>
              <a:gd name="adj" fmla="val 3345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pic>
        <p:nvPicPr>
          <p:cNvPr id="20" name="Image 3" descr="/home/claude/media/ppt/media/image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536192"/>
            <a:ext cx="6739128" cy="313369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54880" y="4925919"/>
            <a:ext cx="2173224" cy="1292001"/>
          </a:xfrm>
          <a:prstGeom prst="roundRect">
            <a:avLst>
              <a:gd name="adj" fmla="val 8493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937760" y="5090511"/>
            <a:ext cx="1807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4937760" y="5364831"/>
            <a:ext cx="1807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Holland RIASEC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7110984" y="4925919"/>
            <a:ext cx="2173224" cy="1292001"/>
          </a:xfrm>
          <a:prstGeom prst="roundRect">
            <a:avLst>
              <a:gd name="adj" fmla="val 8493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293864" y="5090511"/>
            <a:ext cx="1807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7293864" y="5364831"/>
            <a:ext cx="1807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Reality Check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9467088" y="4925919"/>
            <a:ext cx="2173224" cy="1292001"/>
          </a:xfrm>
          <a:prstGeom prst="roundRect">
            <a:avLst>
              <a:gd name="adj" fmla="val 8493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649968" y="5090511"/>
            <a:ext cx="1807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649968" y="5364831"/>
            <a:ext cx="1807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Values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GUIDANCE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10-Week Actionable Roadmap &amp; AI Career Coach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9824" cy="2834640"/>
          </a:xfrm>
          <a:prstGeom prst="roundRect">
            <a:avLst>
              <a:gd name="adj" fmla="val 3871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10-Week Roadmap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2551176"/>
            <a:ext cx="292608" cy="292608"/>
          </a:xfrm>
          <a:prstGeom prst="ellipse">
            <a:avLst/>
          </a:prstGeom>
          <a:solidFill>
            <a:srgbClr val="22D3EE">
              <a:alpha val="18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624328"/>
            <a:ext cx="146304" cy="14630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514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milestones</a:t>
            </a:r>
            <a:pPr indent="0" marL="0">
              <a:buNone/>
            </a:pPr>
            <a:r>
              <a:rPr lang="en-US" sz="15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hour estimates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3118104"/>
            <a:ext cx="292608" cy="292608"/>
          </a:xfrm>
          <a:prstGeom prst="ellipse">
            <a:avLst/>
          </a:prstGeom>
          <a:solidFill>
            <a:srgbClr val="22D3EE">
              <a:alpha val="18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191256"/>
            <a:ext cx="146304" cy="14630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081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resources:</a:t>
            </a:r>
            <a:pPr indent="0" marL="0">
              <a:buNone/>
            </a:pPr>
            <a:r>
              <a:rPr lang="en-US" sz="15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NPTEL / SWAYAM links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2960" y="3685032"/>
            <a:ext cx="292608" cy="292608"/>
          </a:xfrm>
          <a:prstGeom prst="ellipse">
            <a:avLst/>
          </a:prstGeom>
          <a:solidFill>
            <a:srgbClr val="22D3EE">
              <a:alpha val="18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758184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0160" y="3648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</a:t>
            </a:r>
            <a:pPr indent="0" marL="0">
              <a:buNone/>
            </a:pPr>
            <a:r>
              <a:rPr lang="en-US" sz="15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saved, with celebratory confetti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190488" y="1463040"/>
            <a:ext cx="5449824" cy="2834640"/>
          </a:xfrm>
          <a:prstGeom prst="roundRect">
            <a:avLst>
              <a:gd name="adj" fmla="val 3871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464808" y="1691640"/>
            <a:ext cx="548640" cy="548640"/>
          </a:xfrm>
          <a:prstGeom prst="ellipse">
            <a:avLst/>
          </a:prstGeom>
          <a:solidFill>
            <a:srgbClr val="6366F1">
              <a:alpha val="20000"/>
            </a:srgbClr>
          </a:solidFill>
          <a:ln w="9525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182880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196328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AI Coach</a:t>
            </a:r>
            <a:endParaRPr lang="en-US" sz="2000" dirty="0"/>
          </a:p>
        </p:txBody>
      </p:sp>
      <p:sp>
        <p:nvSpPr>
          <p:cNvPr id="21" name="Shape 14"/>
          <p:cNvSpPr/>
          <p:nvPr/>
        </p:nvSpPr>
        <p:spPr>
          <a:xfrm>
            <a:off x="6464808" y="2551176"/>
            <a:ext cx="292608" cy="292608"/>
          </a:xfrm>
          <a:prstGeom prst="ellipse">
            <a:avLst/>
          </a:prstGeom>
          <a:solidFill>
            <a:srgbClr val="6366F1">
              <a:alpha val="18000"/>
            </a:srgbClr>
          </a:solidFill>
          <a:ln w="9525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624328"/>
            <a:ext cx="146304" cy="14630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922008" y="2514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assistant</a:t>
            </a:r>
            <a:pPr indent="0" marL="0">
              <a:buNone/>
            </a:pPr>
            <a:r>
              <a:rPr lang="en-US" sz="15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every page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6464808" y="3118104"/>
            <a:ext cx="292608" cy="292608"/>
          </a:xfrm>
          <a:prstGeom prst="ellipse">
            <a:avLst/>
          </a:prstGeom>
          <a:solidFill>
            <a:srgbClr val="6366F1">
              <a:alpha val="18000"/>
            </a:srgbClr>
          </a:solidFill>
          <a:ln w="9525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191256"/>
            <a:ext cx="146304" cy="14630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22008" y="3081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pPr indent="0" marL="0">
              <a:buNone/>
            </a:pPr>
            <a:r>
              <a:rPr lang="en-US" sz="15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student’s own report</a:t>
            </a:r>
            <a:endParaRPr lang="en-US" sz="1500" dirty="0"/>
          </a:p>
        </p:txBody>
      </p:sp>
      <p:sp>
        <p:nvSpPr>
          <p:cNvPr id="27" name="Shape 18"/>
          <p:cNvSpPr/>
          <p:nvPr/>
        </p:nvSpPr>
        <p:spPr>
          <a:xfrm>
            <a:off x="6464808" y="3685032"/>
            <a:ext cx="292608" cy="292608"/>
          </a:xfrm>
          <a:prstGeom prst="ellipse">
            <a:avLst/>
          </a:prstGeom>
          <a:solidFill>
            <a:srgbClr val="6366F1">
              <a:alpha val="18000"/>
            </a:srgbClr>
          </a:solidFill>
          <a:ln w="9525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3758184"/>
            <a:ext cx="146304" cy="14630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922008" y="3648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pPr indent="0" marL="0">
              <a:buNone/>
            </a:pPr>
            <a:r>
              <a:rPr lang="en-US" sz="15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syllabus, time and study plans</a:t>
            </a:r>
            <a:endParaRPr lang="en-US" sz="1500" dirty="0"/>
          </a:p>
        </p:txBody>
      </p:sp>
      <p:sp>
        <p:nvSpPr>
          <p:cNvPr id="30" name="Shape 20"/>
          <p:cNvSpPr/>
          <p:nvPr/>
        </p:nvSpPr>
        <p:spPr>
          <a:xfrm>
            <a:off x="548640" y="4526280"/>
            <a:ext cx="11091672" cy="1691640"/>
          </a:xfrm>
          <a:prstGeom prst="roundRect">
            <a:avLst>
              <a:gd name="adj" fmla="val 6486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31" name="Text 21"/>
          <p:cNvSpPr txBox="1"/>
          <p:nvPr/>
        </p:nvSpPr>
        <p:spPr>
          <a:xfrm>
            <a:off x="822960" y="4663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PATH, WEEK BY WEEK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1188720" y="5440680"/>
            <a:ext cx="9966960" cy="0"/>
          </a:xfrm>
          <a:prstGeom prst="line">
            <a:avLst/>
          </a:prstGeom>
          <a:noFill/>
          <a:ln w="25400">
            <a:solidFill>
              <a:srgbClr val="2A3563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987552" y="5239512"/>
            <a:ext cx="402336" cy="402336"/>
          </a:xfrm>
          <a:prstGeom prst="ellipse">
            <a:avLst/>
          </a:prstGeom>
          <a:solidFill>
            <a:srgbClr val="6366F1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987552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822960" y="5715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2094992" y="5239512"/>
            <a:ext cx="402336" cy="402336"/>
          </a:xfrm>
          <a:prstGeom prst="ellipse">
            <a:avLst/>
          </a:prstGeom>
          <a:solidFill>
            <a:srgbClr val="6366F1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2094992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1930400" y="5715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3202432" y="5239512"/>
            <a:ext cx="402336" cy="402336"/>
          </a:xfrm>
          <a:prstGeom prst="ellipse">
            <a:avLst/>
          </a:prstGeom>
          <a:solidFill>
            <a:srgbClr val="6366F1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3202432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3037840" y="5715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4309872" y="5239512"/>
            <a:ext cx="402336" cy="402336"/>
          </a:xfrm>
          <a:prstGeom prst="ellipse">
            <a:avLst/>
          </a:prstGeom>
          <a:solidFill>
            <a:srgbClr val="6366F1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4309872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34"/>
          <p:cNvSpPr txBox="1"/>
          <p:nvPr/>
        </p:nvSpPr>
        <p:spPr>
          <a:xfrm>
            <a:off x="4145280" y="5715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5417312" y="5239512"/>
            <a:ext cx="402336" cy="402336"/>
          </a:xfrm>
          <a:prstGeom prst="ellipse">
            <a:avLst/>
          </a:prstGeom>
          <a:solidFill>
            <a:srgbClr val="1A2347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5417312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5252720" y="5715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6524752" y="5239512"/>
            <a:ext cx="402336" cy="402336"/>
          </a:xfrm>
          <a:prstGeom prst="ellipse">
            <a:avLst/>
          </a:prstGeom>
          <a:solidFill>
            <a:srgbClr val="1A2347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6524752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0" name="Text 40"/>
          <p:cNvSpPr txBox="1"/>
          <p:nvPr/>
        </p:nvSpPr>
        <p:spPr>
          <a:xfrm>
            <a:off x="6360160" y="5715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51" name="Shape 41"/>
          <p:cNvSpPr/>
          <p:nvPr/>
        </p:nvSpPr>
        <p:spPr>
          <a:xfrm>
            <a:off x="7632192" y="5239512"/>
            <a:ext cx="402336" cy="402336"/>
          </a:xfrm>
          <a:prstGeom prst="ellipse">
            <a:avLst/>
          </a:prstGeom>
          <a:solidFill>
            <a:srgbClr val="1A2347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7632192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3" name="Text 43"/>
          <p:cNvSpPr txBox="1"/>
          <p:nvPr/>
        </p:nvSpPr>
        <p:spPr>
          <a:xfrm>
            <a:off x="7467600" y="5715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8739632" y="5239512"/>
            <a:ext cx="402336" cy="402336"/>
          </a:xfrm>
          <a:prstGeom prst="ellipse">
            <a:avLst/>
          </a:prstGeom>
          <a:solidFill>
            <a:srgbClr val="1A2347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8739632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6" name="Text 46"/>
          <p:cNvSpPr txBox="1"/>
          <p:nvPr/>
        </p:nvSpPr>
        <p:spPr>
          <a:xfrm>
            <a:off x="8575040" y="5715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9847072" y="5239512"/>
            <a:ext cx="402336" cy="402336"/>
          </a:xfrm>
          <a:prstGeom prst="ellipse">
            <a:avLst/>
          </a:prstGeom>
          <a:solidFill>
            <a:srgbClr val="1A2347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58" name="Text 48"/>
          <p:cNvSpPr txBox="1"/>
          <p:nvPr/>
        </p:nvSpPr>
        <p:spPr>
          <a:xfrm>
            <a:off x="9847072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9" name="Text 49"/>
          <p:cNvSpPr txBox="1"/>
          <p:nvPr/>
        </p:nvSpPr>
        <p:spPr>
          <a:xfrm>
            <a:off x="9682480" y="5715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60" name="Shape 50"/>
          <p:cNvSpPr/>
          <p:nvPr/>
        </p:nvSpPr>
        <p:spPr>
          <a:xfrm>
            <a:off x="10954512" y="5239512"/>
            <a:ext cx="402336" cy="402336"/>
          </a:xfrm>
          <a:prstGeom prst="ellipse">
            <a:avLst/>
          </a:prstGeom>
          <a:solidFill>
            <a:srgbClr val="34D399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61" name="Text 51"/>
          <p:cNvSpPr txBox="1"/>
          <p:nvPr/>
        </p:nvSpPr>
        <p:spPr>
          <a:xfrm>
            <a:off x="10954512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2" name="Text 52"/>
          <p:cNvSpPr txBox="1"/>
          <p:nvPr/>
        </p:nvSpPr>
        <p:spPr>
          <a:xfrm>
            <a:off x="10789920" y="5715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HUMAN-IN-THE-LOOP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 Advisory Cell &amp; AI Copilot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548640"/>
          </a:xfrm>
          <a:prstGeom prst="homePlate">
            <a:avLst/>
          </a:prstGeom>
          <a:solidFill>
            <a:srgbClr val="6366F1">
              <a:alpha val="8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Registered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46704" y="1463040"/>
            <a:ext cx="2697480" cy="548640"/>
          </a:xfrm>
          <a:prstGeom prst="homePlate">
            <a:avLst/>
          </a:prstGeom>
          <a:solidFill>
            <a:srgbClr val="4F7BF0">
              <a:alpha val="85000"/>
            </a:srgbClr>
          </a:solidFill>
          <a:ln w="12700">
            <a:solidFill>
              <a:srgbClr val="4F7B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9584" y="1463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Profiled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44768" y="1463040"/>
            <a:ext cx="2697480" cy="548640"/>
          </a:xfrm>
          <a:prstGeom prst="homePlate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27648" y="1463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Assessed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42832" y="1463040"/>
            <a:ext cx="2697480" cy="548640"/>
          </a:xfrm>
          <a:prstGeom prst="homePlate">
            <a:avLst/>
          </a:prstGeom>
          <a:solidFill>
            <a:srgbClr val="34D399">
              <a:alpha val="8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25712" y="1463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Active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3749040" cy="1965960"/>
          </a:xfrm>
          <a:prstGeom prst="roundRect">
            <a:avLst>
              <a:gd name="adj" fmla="val 5581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487168"/>
            <a:ext cx="502920" cy="502920"/>
          </a:xfrm>
          <a:prstGeom prst="ellipse">
            <a:avLst/>
          </a:prstGeom>
          <a:solidFill>
            <a:srgbClr val="6366F1">
              <a:alpha val="20000"/>
            </a:srgbClr>
          </a:solidFill>
          <a:ln w="9525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612898"/>
            <a:ext cx="251460" cy="2514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463040" y="24871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Counselor Copilot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77240" y="3227832"/>
            <a:ext cx="274320" cy="274320"/>
          </a:xfrm>
          <a:prstGeom prst="ellipse">
            <a:avLst/>
          </a:prstGeom>
          <a:solidFill>
            <a:srgbClr val="6366F1">
              <a:alpha val="18000"/>
            </a:srgbClr>
          </a:solidFill>
          <a:ln w="9525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3296412"/>
            <a:ext cx="137160" cy="1371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88720" y="3200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student briefs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77240" y="3703320"/>
            <a:ext cx="274320" cy="274320"/>
          </a:xfrm>
          <a:prstGeom prst="ellipse">
            <a:avLst/>
          </a:prstGeom>
          <a:solidFill>
            <a:srgbClr val="6366F1">
              <a:alpha val="18000"/>
            </a:srgbClr>
          </a:solidFill>
          <a:ln w="9525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771900"/>
            <a:ext cx="137160" cy="1371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88720" y="36758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prompts</a:t>
            </a:r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ready for each session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434840"/>
            <a:ext cx="3749040" cy="1783080"/>
          </a:xfrm>
          <a:prstGeom prst="roundRect">
            <a:avLst>
              <a:gd name="adj" fmla="val 6154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" y="4636008"/>
            <a:ext cx="502920" cy="502920"/>
          </a:xfrm>
          <a:prstGeom prst="ellipse">
            <a:avLst/>
          </a:prstGeom>
          <a:solidFill>
            <a:srgbClr val="34D399">
              <a:alpha val="20000"/>
            </a:srgbClr>
          </a:solidFill>
          <a:ln w="9525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4761738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63040" y="4636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Flow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approve and attach.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77240" y="5669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77240" y="5669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Counselor Verified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526280" y="2286000"/>
            <a:ext cx="7114032" cy="3388460"/>
          </a:xfrm>
          <a:prstGeom prst="roundRect">
            <a:avLst>
              <a:gd name="adj" fmla="val 3238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pic>
        <p:nvPicPr>
          <p:cNvPr id="30" name="Image 4" descr="/mnt/user-data/attachments/a8df25ad-0ec0-508e-8f1b-6d8f1af90013/ee337600-im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2359152"/>
            <a:ext cx="6967728" cy="324215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526280" y="5784188"/>
            <a:ext cx="7114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 dashboard — engagement funnel, pending AI reviews and verified coverage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OPERATIONS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Telemetry &amp; Evaluator Quick Access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Telemetry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2286000" cy="1645920"/>
          </a:xfrm>
          <a:prstGeom prst="roundRect">
            <a:avLst>
              <a:gd name="adj" fmla="val 6667"/>
            </a:avLst>
          </a:prstGeom>
          <a:solidFill>
            <a:srgbClr val="1A2347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578608"/>
            <a:ext cx="502920" cy="50292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858" y="2704338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24128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calls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24128" y="3593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live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2377440"/>
            <a:ext cx="2286000" cy="1645920"/>
          </a:xfrm>
          <a:prstGeom prst="roundRect">
            <a:avLst>
              <a:gd name="adj" fmla="val 6667"/>
            </a:avLst>
          </a:prstGeom>
          <a:solidFill>
            <a:srgbClr val="1A2347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93008" y="2578608"/>
            <a:ext cx="502920" cy="502920"/>
          </a:xfrm>
          <a:prstGeom prst="ellipse">
            <a:avLst/>
          </a:prstGeom>
          <a:solidFill>
            <a:srgbClr val="FBBF24">
              <a:alpha val="20000"/>
            </a:srgbClr>
          </a:solidFill>
          <a:ln w="9525">
            <a:solidFill>
              <a:srgbClr val="FBBF24">
                <a:alpha val="5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738" y="2704338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93008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493008" y="3593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" y="4206240"/>
            <a:ext cx="2286000" cy="1645920"/>
          </a:xfrm>
          <a:prstGeom prst="roundRect">
            <a:avLst>
              <a:gd name="adj" fmla="val 6667"/>
            </a:avLst>
          </a:prstGeom>
          <a:solidFill>
            <a:srgbClr val="1A2347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24128" y="4407408"/>
            <a:ext cx="502920" cy="502920"/>
          </a:xfrm>
          <a:prstGeom prst="ellipse">
            <a:avLst/>
          </a:prstGeom>
          <a:solidFill>
            <a:srgbClr val="6366F1">
              <a:alpha val="20000"/>
            </a:srgbClr>
          </a:solidFill>
          <a:ln w="9525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58" y="4533138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24128" y="5074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latency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024128" y="5422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291840" y="4206240"/>
            <a:ext cx="2286000" cy="1645920"/>
          </a:xfrm>
          <a:prstGeom prst="roundRect">
            <a:avLst>
              <a:gd name="adj" fmla="val 6667"/>
            </a:avLst>
          </a:prstGeom>
          <a:solidFill>
            <a:srgbClr val="1A2347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493008" y="4407408"/>
            <a:ext cx="502920" cy="502920"/>
          </a:xfrm>
          <a:prstGeom prst="ellipse">
            <a:avLst/>
          </a:prstGeom>
          <a:solidFill>
            <a:srgbClr val="34D399">
              <a:alpha val="20000"/>
            </a:srgbClr>
          </a:solidFill>
          <a:ln w="9525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738" y="4533138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493008" y="5074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rate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3493008" y="5422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backup engine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190488" y="1463040"/>
            <a:ext cx="5449824" cy="4754880"/>
          </a:xfrm>
          <a:prstGeom prst="roundRect">
            <a:avLst>
              <a:gd name="adj" fmla="val 2308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464808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Demo Accounts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6464808" y="2377440"/>
            <a:ext cx="4901184" cy="1097280"/>
          </a:xfrm>
          <a:prstGeom prst="roundRect">
            <a:avLst>
              <a:gd name="adj" fmla="val 10000"/>
            </a:avLst>
          </a:prstGeom>
          <a:solidFill>
            <a:srgbClr val="1A2347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675120" y="2651760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78892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406640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Verma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74066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explore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10332720" y="2724912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10332720" y="27249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464808" y="3639312"/>
            <a:ext cx="4901184" cy="1097280"/>
          </a:xfrm>
          <a:prstGeom prst="roundRect">
            <a:avLst>
              <a:gd name="adj" fmla="val 10000"/>
            </a:avLst>
          </a:prstGeom>
          <a:solidFill>
            <a:srgbClr val="1A2347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675120" y="3913632"/>
            <a:ext cx="548640" cy="548640"/>
          </a:xfrm>
          <a:prstGeom prst="ellipse">
            <a:avLst/>
          </a:prstGeom>
          <a:solidFill>
            <a:srgbClr val="6366F1">
              <a:alpha val="20000"/>
            </a:srgbClr>
          </a:solidFill>
          <a:ln w="9525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4050792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406640" y="38679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Vikram Seth</a:t>
            </a:r>
            <a:endParaRPr lang="en-US" sz="1700" dirty="0"/>
          </a:p>
        </p:txBody>
      </p:sp>
      <p:sp>
        <p:nvSpPr>
          <p:cNvPr id="39" name="Text 31"/>
          <p:cNvSpPr txBox="1"/>
          <p:nvPr/>
        </p:nvSpPr>
        <p:spPr>
          <a:xfrm>
            <a:off x="7406640" y="4233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verifies AI reports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10332720" y="3986784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10332720" y="398678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6464808" y="4901184"/>
            <a:ext cx="4901184" cy="1097280"/>
          </a:xfrm>
          <a:prstGeom prst="roundRect">
            <a:avLst>
              <a:gd name="adj" fmla="val 10000"/>
            </a:avLst>
          </a:prstGeom>
          <a:solidFill>
            <a:srgbClr val="1A2347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675120" y="5175504"/>
            <a:ext cx="548640" cy="548640"/>
          </a:xfrm>
          <a:prstGeom prst="ellipse">
            <a:avLst/>
          </a:prstGeom>
          <a:solidFill>
            <a:srgbClr val="34D399">
              <a:alpha val="20000"/>
            </a:srgbClr>
          </a:solidFill>
          <a:ln w="9525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5312664"/>
            <a:ext cx="274320" cy="27432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7406640" y="51297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700" dirty="0"/>
          </a:p>
        </p:txBody>
      </p:sp>
      <p:sp>
        <p:nvSpPr>
          <p:cNvPr id="46" name="Text 37"/>
          <p:cNvSpPr txBox="1"/>
          <p:nvPr/>
        </p:nvSpPr>
        <p:spPr>
          <a:xfrm>
            <a:off x="7406640" y="54955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dashboard</a:t>
            </a:r>
            <a:endParaRPr lang="en-US" sz="1300" dirty="0"/>
          </a:p>
        </p:txBody>
      </p:sp>
      <p:sp>
        <p:nvSpPr>
          <p:cNvPr id="47" name="Shape 38"/>
          <p:cNvSpPr/>
          <p:nvPr/>
        </p:nvSpPr>
        <p:spPr>
          <a:xfrm>
            <a:off x="10332720" y="5248656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10332720" y="524865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2377440"/>
            <a:ext cx="6858000" cy="6858000"/>
          </a:xfrm>
          <a:prstGeom prst="ellipse">
            <a:avLst/>
          </a:prstGeom>
          <a:solidFill>
            <a:srgbClr val="6366F1">
              <a:alpha val="13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480560"/>
            <a:ext cx="5669280" cy="5669280"/>
          </a:xfrm>
          <a:prstGeom prst="ellipse">
            <a:avLst/>
          </a:prstGeom>
          <a:solidFill>
            <a:srgbClr val="34D399">
              <a:alpha val="8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IMPACT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Impact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23160"/>
            <a:ext cx="594360" cy="594360"/>
          </a:xfrm>
          <a:prstGeom prst="ellipse">
            <a:avLst/>
          </a:prstGeom>
          <a:solidFill>
            <a:srgbClr val="6366F1">
              <a:alpha val="20000"/>
            </a:srgbClr>
          </a:solidFill>
          <a:ln w="9525">
            <a:solidFill>
              <a:srgbClr val="6366F1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57175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11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fully responsive deployment.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11396" y="214884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85716" y="2423160"/>
            <a:ext cx="594360" cy="59436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306" y="257175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85716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Privacy-compliant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585716" y="3611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JSON export and GDPR “Right to be Forgotten” self-service deletion.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74152" y="214884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131A33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48472" y="2423160"/>
            <a:ext cx="594360" cy="594360"/>
          </a:xfrm>
          <a:prstGeom prst="ellipse">
            <a:avLst/>
          </a:prstGeom>
          <a:solidFill>
            <a:srgbClr val="34D399">
              <a:alpha val="20000"/>
            </a:srgbClr>
          </a:solidFill>
          <a:ln w="9525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062" y="257175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48472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348472" y="3611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fallback keeps 100% uptime during LLM outages.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4800600"/>
            <a:ext cx="11091672" cy="1280160"/>
          </a:xfrm>
          <a:prstGeom prst="roundRect">
            <a:avLst>
              <a:gd name="adj" fmla="val 8571"/>
            </a:avLst>
          </a:prstGeom>
          <a:solidFill>
            <a:srgbClr val="1A2347"/>
          </a:solidFill>
          <a:ln w="9525">
            <a:solidFill>
              <a:srgbClr val="2A356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14400" y="48006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 AI — </a:t>
            </a:r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student aspirations and verified career success.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PathFinder AI - PS-2 Solution</dc:title>
  <dc:subject>PptxGenJS Presentation</dc:subject>
  <dc:creator>PptxGenJS</dc:creator>
  <cp:lastModifiedBy>PptxGenJS</cp:lastModifiedBy>
  <cp:revision>1</cp:revision>
  <dcterms:created xsi:type="dcterms:W3CDTF">2026-10-29T10:28:28Z</dcterms:created>
  <dcterms:modified xsi:type="dcterms:W3CDTF">2026-10-29T10:28:28Z</dcterms:modified>
</cp:coreProperties>
</file>